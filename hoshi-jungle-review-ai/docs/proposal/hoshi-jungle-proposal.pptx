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システムはすでに完成しています。本日は、実際の画面を見ていただくのが目的です。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ここは「困っているはず」と決めつけず、よくある状態として置いています。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ここでWebデモのURLを開いて、実際に操作してもらうのが一番伝わります。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返金や補償の約束はしません。事実の創作もしません。制約として組み込んであります。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返信量を増やしたい場合は月数百円程度で拡張できます。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①だけでも先にいただければ、Google社への申請準備を始められます。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11C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137160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72877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LEAVES BALI  →  HOSHI JUNGLE 御中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1965960"/>
            <a:ext cx="100584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クチコミ返信を、</a:t>
            </a:r>
            <a:endParaRPr lang="en-US" sz="46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2834640"/>
            <a:ext cx="100584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6FC7A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取りこぼさない。</a:t>
            </a:r>
            <a:endParaRPr lang="en-US" sz="46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3886200"/>
            <a:ext cx="7863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400" dirty="0">
                <a:solidFill>
                  <a:srgbClr val="AFC2B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Googleマップに届く日本語・英語・インドネシア語のクチコミに、AIが返信の下書きを用意します。</a:t>
            </a:r>
            <a:endParaRPr lang="en-US" sz="14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400" dirty="0">
                <a:solidFill>
                  <a:srgbClr val="AFC2B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公開するかどうかを決めるのは、いつでもスタッフの方です。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85800" y="5029200"/>
            <a:ext cx="2926080" cy="0"/>
          </a:xfrm>
          <a:prstGeom prst="line">
            <a:avLst/>
          </a:prstGeom>
          <a:noFill/>
          <a:ln w="12700">
            <a:solidFill>
              <a:srgbClr val="2E4638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85800" y="5230368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2877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Hoshi Jungle Review AI   ご提案 · 2026年9月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2F6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75488"/>
            <a:ext cx="10789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622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返信が止まるのは、書けないからではありません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1170432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72877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宿泊施設のクチコミ運用でよく起きている状態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685800" y="1828800"/>
            <a:ext cx="10789920" cy="1207008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12700">
            <a:solidFill>
              <a:srgbClr val="D8E0D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69848" y="2240280"/>
            <a:ext cx="384048" cy="384048"/>
          </a:xfrm>
          <a:prstGeom prst="roundRect">
            <a:avLst>
              <a:gd name="adj" fmla="val 23810"/>
            </a:avLst>
          </a:prstGeom>
          <a:solidFill>
            <a:srgbClr val="1F5C47"/>
          </a:solidFill>
          <a:ln w="12700">
            <a:solidFill>
              <a:srgbClr val="1F5C47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69848" y="22402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1691640" y="2066544"/>
            <a:ext cx="3291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622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言語が混ざる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5074920" y="2084832"/>
            <a:ext cx="5943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4458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日本語・英語・インドネシア語が同じ画面に並びます。その言語で書ける人が、その日いるとは限りません。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85800" y="3246120"/>
            <a:ext cx="10789920" cy="1207008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12700">
            <a:solidFill>
              <a:srgbClr val="D8E0D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69848" y="3657600"/>
            <a:ext cx="384048" cy="384048"/>
          </a:xfrm>
          <a:prstGeom prst="roundRect">
            <a:avLst>
              <a:gd name="adj" fmla="val 23810"/>
            </a:avLst>
          </a:prstGeom>
          <a:solidFill>
            <a:srgbClr val="1F5C47"/>
          </a:solidFill>
          <a:ln w="12700">
            <a:solidFill>
              <a:srgbClr val="1F5C47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069848" y="36576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1691640" y="3483864"/>
            <a:ext cx="3291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622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文面を考える時間が要る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5074920" y="3502152"/>
            <a:ext cx="5943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4458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1件あたり数分でも、積み重なると手が回りません。「あとで」が積み上がっていきます。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685800" y="4663440"/>
            <a:ext cx="10789920" cy="1207008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12700">
            <a:solidFill>
              <a:srgbClr val="D8E0D5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069848" y="5074920"/>
            <a:ext cx="384048" cy="384048"/>
          </a:xfrm>
          <a:prstGeom prst="roundRect">
            <a:avLst>
              <a:gd name="adj" fmla="val 23810"/>
            </a:avLst>
          </a:prstGeom>
          <a:solidFill>
            <a:srgbClr val="1F5C47"/>
          </a:solidFill>
          <a:ln w="12700">
            <a:solidFill>
              <a:srgbClr val="1F5C47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069848" y="5074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1691640" y="4901184"/>
            <a:ext cx="3291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622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低評価ほど後回しになる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5074920" y="4919472"/>
            <a:ext cx="5943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4458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本当は真っ先に返したい低評価ほど、文面に悩んで時間がかかります。その間も検討中の方が読んでいます。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685800" y="638251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2877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Leaves Bali  ·  Hoshi Jungle Review AI</a:t>
            </a:r>
            <a:endParaRPr lang="en-US" sz="900" dirty="0"/>
          </a:p>
        </p:txBody>
      </p:sp>
      <p:sp>
        <p:nvSpPr>
          <p:cNvPr id="20" name="Text 18"/>
          <p:cNvSpPr txBox="1"/>
          <p:nvPr/>
        </p:nvSpPr>
        <p:spPr>
          <a:xfrm>
            <a:off x="10561320" y="638251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2877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2F6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75488"/>
            <a:ext cx="10789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622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このシステムがすること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1170432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72877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できることは3つだけです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685800" y="1874520"/>
            <a:ext cx="3413760" cy="3246120"/>
          </a:xfrm>
          <a:prstGeom prst="roundRect">
            <a:avLst>
              <a:gd name="adj" fmla="val 1690"/>
            </a:avLst>
          </a:prstGeom>
          <a:solidFill>
            <a:srgbClr val="FFFFFF"/>
          </a:solidFill>
          <a:ln w="12700">
            <a:solidFill>
              <a:srgbClr val="D8E0D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97280" y="2286000"/>
            <a:ext cx="457200" cy="457200"/>
          </a:xfrm>
          <a:prstGeom prst="roundRect">
            <a:avLst>
              <a:gd name="adj" fmla="val 24000"/>
            </a:avLst>
          </a:prstGeom>
          <a:solidFill>
            <a:srgbClr val="1F5C47"/>
          </a:solidFill>
          <a:ln w="12700">
            <a:solidFill>
              <a:srgbClr val="1F5C47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97280" y="22860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1097280" y="2926080"/>
            <a:ext cx="2590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800"/>
              </a:lnSpc>
              <a:buNone/>
            </a:pPr>
            <a:r>
              <a:rPr lang="en-US" sz="1900" b="1" dirty="0">
                <a:solidFill>
                  <a:srgbClr val="1622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5か国語に、</a:t>
            </a:r>
            <a:endParaRPr lang="en-US" sz="1900" dirty="0"/>
          </a:p>
          <a:p>
            <a:pPr indent="0" marL="0">
              <a:lnSpc>
                <a:spcPts val="2800"/>
              </a:lnSpc>
              <a:buNone/>
            </a:pPr>
            <a:r>
              <a:rPr lang="en-US" sz="1900" b="1" dirty="0">
                <a:solidFill>
                  <a:srgbClr val="1622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届いた言語で返す</a:t>
            </a:r>
            <a:endParaRPr lang="en-US" sz="1900" dirty="0"/>
          </a:p>
        </p:txBody>
      </p:sp>
      <p:sp>
        <p:nvSpPr>
          <p:cNvPr id="8" name="Text 6"/>
          <p:cNvSpPr txBox="1"/>
          <p:nvPr/>
        </p:nvSpPr>
        <p:spPr>
          <a:xfrm>
            <a:off x="1097280" y="3931920"/>
            <a:ext cx="2590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4458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日本語・英語・インドネシア語・中国語・韓国語。バリ島の来訪者数の実績にもとづいて選びました。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4373880" y="1874520"/>
            <a:ext cx="3413760" cy="3246120"/>
          </a:xfrm>
          <a:prstGeom prst="roundRect">
            <a:avLst>
              <a:gd name="adj" fmla="val 1690"/>
            </a:avLst>
          </a:prstGeom>
          <a:solidFill>
            <a:srgbClr val="FFFFFF"/>
          </a:solidFill>
          <a:ln w="12700">
            <a:solidFill>
              <a:srgbClr val="D8E0D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785360" y="2286000"/>
            <a:ext cx="457200" cy="457200"/>
          </a:xfrm>
          <a:prstGeom prst="roundRect">
            <a:avLst>
              <a:gd name="adj" fmla="val 24000"/>
            </a:avLst>
          </a:prstGeom>
          <a:solidFill>
            <a:srgbClr val="1F5C47"/>
          </a:solidFill>
          <a:ln w="12700">
            <a:solidFill>
              <a:srgbClr val="1F5C47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785360" y="22860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4785360" y="2926080"/>
            <a:ext cx="2590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800"/>
              </a:lnSpc>
              <a:buNone/>
            </a:pPr>
            <a:r>
              <a:rPr lang="en-US" sz="1900" b="1" dirty="0">
                <a:solidFill>
                  <a:srgbClr val="1622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3つの案から</a:t>
            </a:r>
            <a:endParaRPr lang="en-US" sz="1900" dirty="0"/>
          </a:p>
          <a:p>
            <a:pPr indent="0" marL="0">
              <a:lnSpc>
                <a:spcPts val="2800"/>
              </a:lnSpc>
              <a:buNone/>
            </a:pPr>
            <a:r>
              <a:rPr lang="en-US" sz="1900" b="1" dirty="0">
                <a:solidFill>
                  <a:srgbClr val="1622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選ぶだけ</a:t>
            </a:r>
            <a:endParaRPr lang="en-US" sz="1900" dirty="0"/>
          </a:p>
        </p:txBody>
      </p:sp>
      <p:sp>
        <p:nvSpPr>
          <p:cNvPr id="13" name="Text 11"/>
          <p:cNvSpPr txBox="1"/>
          <p:nvPr/>
        </p:nvSpPr>
        <p:spPr>
          <a:xfrm>
            <a:off x="4785360" y="3931920"/>
            <a:ext cx="2590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4458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丁寧・標準・簡潔の3案を用意します。書き直すのではなく選ぶだけ。公開はボタンを押したときだけです。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8061960" y="1874520"/>
            <a:ext cx="3413760" cy="3246120"/>
          </a:xfrm>
          <a:prstGeom prst="roundRect">
            <a:avLst>
              <a:gd name="adj" fmla="val 1690"/>
            </a:avLst>
          </a:prstGeom>
          <a:solidFill>
            <a:srgbClr val="FFFFFF"/>
          </a:solidFill>
          <a:ln w="12700">
            <a:solidFill>
              <a:srgbClr val="D8E0D5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473440" y="2286000"/>
            <a:ext cx="457200" cy="457200"/>
          </a:xfrm>
          <a:prstGeom prst="roundRect">
            <a:avLst>
              <a:gd name="adj" fmla="val 24000"/>
            </a:avLst>
          </a:prstGeom>
          <a:solidFill>
            <a:srgbClr val="9A7A32"/>
          </a:solidFill>
          <a:ln w="12700">
            <a:solidFill>
              <a:srgbClr val="9A7A3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473440" y="22860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8473440" y="2926080"/>
            <a:ext cx="2590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800"/>
              </a:lnSpc>
              <a:buNone/>
            </a:pPr>
            <a:r>
              <a:rPr lang="en-US" sz="1900" b="1" dirty="0">
                <a:solidFill>
                  <a:srgbClr val="1622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管理費は</a:t>
            </a:r>
            <a:endParaRPr lang="en-US" sz="1900" dirty="0"/>
          </a:p>
          <a:p>
            <a:pPr indent="0" marL="0">
              <a:lnSpc>
                <a:spcPts val="2800"/>
              </a:lnSpc>
              <a:buNone/>
            </a:pPr>
            <a:r>
              <a:rPr lang="en-US" sz="1900" b="1" dirty="0">
                <a:solidFill>
                  <a:srgbClr val="1622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いただきません</a:t>
            </a:r>
            <a:endParaRPr lang="en-US" sz="1900" dirty="0"/>
          </a:p>
        </p:txBody>
      </p:sp>
      <p:sp>
        <p:nvSpPr>
          <p:cNvPr id="18" name="Text 16"/>
          <p:cNvSpPr txBox="1"/>
          <p:nvPr/>
        </p:nvSpPr>
        <p:spPr>
          <a:xfrm>
            <a:off x="8473440" y="3931920"/>
            <a:ext cx="2590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4458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月額の管理費・保守費はありません。サーバー代もかかりません。ホテル様のご負担は0円です。</a:t>
            </a:r>
            <a:endParaRPr lang="en-US" sz="1150" dirty="0"/>
          </a:p>
        </p:txBody>
      </p:sp>
      <p:sp>
        <p:nvSpPr>
          <p:cNvPr id="19" name="Text 17"/>
          <p:cNvSpPr txBox="1"/>
          <p:nvPr/>
        </p:nvSpPr>
        <p:spPr>
          <a:xfrm>
            <a:off x="685800" y="638251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2877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Leaves Bali  ·  Hoshi Jungle Review AI</a:t>
            </a:r>
            <a:endParaRPr lang="en-US" sz="900" dirty="0"/>
          </a:p>
        </p:txBody>
      </p:sp>
      <p:sp>
        <p:nvSpPr>
          <p:cNvPr id="20" name="Text 18"/>
          <p:cNvSpPr txBox="1"/>
          <p:nvPr/>
        </p:nvSpPr>
        <p:spPr>
          <a:xfrm>
            <a:off x="10561320" y="638251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2877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2F6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502920"/>
            <a:ext cx="5852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2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スタッフが毎朝ひらく画面です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85800" y="1901952"/>
            <a:ext cx="146304" cy="146304"/>
          </a:xfrm>
          <a:prstGeom prst="roundRect">
            <a:avLst>
              <a:gd name="adj" fmla="val 31250"/>
            </a:avLst>
          </a:prstGeom>
          <a:solidFill>
            <a:srgbClr val="1F5C47"/>
          </a:solidFill>
          <a:ln w="12700">
            <a:solidFill>
              <a:srgbClr val="1F5C47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1033272" y="1792224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458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新しいクチコミは毎時間、自動で集まります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85800" y="2468880"/>
            <a:ext cx="146304" cy="146304"/>
          </a:xfrm>
          <a:prstGeom prst="roundRect">
            <a:avLst>
              <a:gd name="adj" fmla="val 31250"/>
            </a:avLst>
          </a:prstGeom>
          <a:solidFill>
            <a:srgbClr val="1F5C47"/>
          </a:solidFill>
          <a:ln w="12700">
            <a:solidFill>
              <a:srgbClr val="1F5C47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33272" y="2359152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458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AIの返信案がすでに入っています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85800" y="3035808"/>
            <a:ext cx="146304" cy="146304"/>
          </a:xfrm>
          <a:prstGeom prst="roundRect">
            <a:avLst>
              <a:gd name="adj" fmla="val 31250"/>
            </a:avLst>
          </a:prstGeom>
          <a:solidFill>
            <a:srgbClr val="1F5C47"/>
          </a:solidFill>
          <a:ln w="12700">
            <a:solidFill>
              <a:srgbClr val="1F5C47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033272" y="2926080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458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言語ごとにタブで分けて確認できます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85800" y="3602736"/>
            <a:ext cx="146304" cy="146304"/>
          </a:xfrm>
          <a:prstGeom prst="roundRect">
            <a:avLst>
              <a:gd name="adj" fmla="val 31250"/>
            </a:avLst>
          </a:prstGeom>
          <a:solidFill>
            <a:srgbClr val="1F5C47"/>
          </a:solidFill>
          <a:ln w="12700">
            <a:solidFill>
              <a:srgbClr val="1F5C4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033272" y="3493008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458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低評価とインドネシア語は「要確認」に分けて表示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685800" y="4434840"/>
            <a:ext cx="5394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72877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この画面は実物です。デモでは文章を書き換えたり、公開ボタンを押したりして、実際に触っていただけます。</a:t>
            </a:r>
            <a:endParaRPr lang="en-US" sz="1150" dirty="0"/>
          </a:p>
        </p:txBody>
      </p:sp>
      <p:pic>
        <p:nvPicPr>
          <p:cNvPr id="12" name="Image 0" descr="/tmp/claude-0/slide-dem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45757" y="566928"/>
            <a:ext cx="5229963" cy="5669280"/>
          </a:xfrm>
          <a:prstGeom prst="rect">
            <a:avLst/>
          </a:prstGeom>
        </p:spPr>
      </p:pic>
      <p:sp>
        <p:nvSpPr>
          <p:cNvPr id="13" name="Text 10"/>
          <p:cNvSpPr txBox="1"/>
          <p:nvPr/>
        </p:nvSpPr>
        <p:spPr>
          <a:xfrm>
            <a:off x="685800" y="638251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2877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Leaves Bali  ·  Hoshi Jungle Review AI</a:t>
            </a:r>
            <a:endParaRPr lang="en-US" sz="900" dirty="0"/>
          </a:p>
        </p:txBody>
      </p:sp>
      <p:sp>
        <p:nvSpPr>
          <p:cNvPr id="14" name="Text 11"/>
          <p:cNvSpPr txBox="1"/>
          <p:nvPr/>
        </p:nvSpPr>
        <p:spPr>
          <a:xfrm>
            <a:off x="10561320" y="638251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2877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2F6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75488"/>
            <a:ext cx="10789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622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AIが書く返信は、こういう文章です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1170432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72877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評点に応じて書き分けます。下はデモ用のサンプルです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685800" y="1965960"/>
            <a:ext cx="5212080" cy="118872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D8E0D5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41832" y="2084832"/>
            <a:ext cx="1188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A7A3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★★★★★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2148840" y="210312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72877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田中 美咲 · 日本語</a:t>
            </a:r>
            <a:endParaRPr lang="en-US" sz="1050" dirty="0"/>
          </a:p>
        </p:txBody>
      </p:sp>
      <p:sp>
        <p:nvSpPr>
          <p:cNvPr id="7" name="Text 5"/>
          <p:cNvSpPr txBox="1"/>
          <p:nvPr/>
        </p:nvSpPr>
        <p:spPr>
          <a:xfrm>
            <a:off x="941832" y="2423160"/>
            <a:ext cx="470001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1622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プールからの景色が最高でした。スタッフの方もとても親切です。また行きたいです。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3017520" y="32461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5C4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▼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85800" y="3611880"/>
            <a:ext cx="5212080" cy="2057400"/>
          </a:xfrm>
          <a:prstGeom prst="roundRect">
            <a:avLst>
              <a:gd name="adj" fmla="val 2667"/>
            </a:avLst>
          </a:prstGeom>
          <a:solidFill>
            <a:srgbClr val="DDEAE2"/>
          </a:solidFill>
          <a:ln w="12700">
            <a:solidFill>
              <a:srgbClr val="D8E0D5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41832" y="3749040"/>
            <a:ext cx="47000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1F5C4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AIが作成した返信案</a:t>
            </a:r>
            <a:endParaRPr lang="en-US" sz="950" dirty="0"/>
          </a:p>
        </p:txBody>
      </p:sp>
      <p:sp>
        <p:nvSpPr>
          <p:cNvPr id="11" name="Text 9"/>
          <p:cNvSpPr txBox="1"/>
          <p:nvPr/>
        </p:nvSpPr>
        <p:spPr>
          <a:xfrm>
            <a:off x="941832" y="4059936"/>
            <a:ext cx="4700016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1622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田中様、ありがとうございます。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1622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プールからの眺めを気に入っていただけて何よりです。スタッフにも伝えます。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1622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またのお越しをお待ちしております。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1622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Hoshi Jungle Team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941832" y="5742432"/>
            <a:ext cx="47000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2877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5つ星 → 何を喜んでくれたかに具体的に触れて感謝する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263640" y="1965960"/>
            <a:ext cx="5212080" cy="118872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D8E0D5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519672" y="2084832"/>
            <a:ext cx="1188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A7A3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★★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7726680" y="210312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72877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Michael R. · English</a:t>
            </a:r>
            <a:endParaRPr 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6519672" y="2423160"/>
            <a:ext cx="470001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1622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The room wasn't clean when we arrived and the AC didn't work.</a:t>
            </a:r>
            <a:endParaRPr lang="en-US" sz="1050" dirty="0"/>
          </a:p>
        </p:txBody>
      </p:sp>
      <p:sp>
        <p:nvSpPr>
          <p:cNvPr id="17" name="Text 15"/>
          <p:cNvSpPr txBox="1"/>
          <p:nvPr/>
        </p:nvSpPr>
        <p:spPr>
          <a:xfrm>
            <a:off x="8595360" y="32461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5C4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▼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263640" y="3611880"/>
            <a:ext cx="5212080" cy="2057400"/>
          </a:xfrm>
          <a:prstGeom prst="roundRect">
            <a:avLst>
              <a:gd name="adj" fmla="val 2667"/>
            </a:avLst>
          </a:prstGeom>
          <a:solidFill>
            <a:srgbClr val="DDEAE2"/>
          </a:solidFill>
          <a:ln w="12700">
            <a:solidFill>
              <a:srgbClr val="D8E0D5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519672" y="3749040"/>
            <a:ext cx="47000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1F5C4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AIが作成した返信案</a:t>
            </a:r>
            <a:endParaRPr lang="en-US" sz="950" dirty="0"/>
          </a:p>
        </p:txBody>
      </p:sp>
      <p:sp>
        <p:nvSpPr>
          <p:cNvPr id="20" name="Text 18"/>
          <p:cNvSpPr txBox="1"/>
          <p:nvPr/>
        </p:nvSpPr>
        <p:spPr>
          <a:xfrm>
            <a:off x="6519672" y="4059936"/>
            <a:ext cx="4700016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1622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Michael, I am sorry.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1622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The room should have been clean, and the air conditioning should have been working. We have raised both with our team.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1622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Please contact us at stay@hoshijungle.com so we can put this right.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1622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Hoshi Jungle Team</a:t>
            </a:r>
            <a:endParaRPr lang="en-US" sz="1050" dirty="0"/>
          </a:p>
        </p:txBody>
      </p:sp>
      <p:sp>
        <p:nvSpPr>
          <p:cNvPr id="21" name="Text 19"/>
          <p:cNvSpPr txBox="1"/>
          <p:nvPr/>
        </p:nvSpPr>
        <p:spPr>
          <a:xfrm>
            <a:off x="6519672" y="5742432"/>
            <a:ext cx="47000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2877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1〜2つ星 → 言い訳せず謝罪し、対応と連絡先を示す</a:t>
            </a:r>
            <a:endParaRPr lang="en-US" sz="1000" dirty="0"/>
          </a:p>
        </p:txBody>
      </p:sp>
      <p:sp>
        <p:nvSpPr>
          <p:cNvPr id="22" name="Text 20"/>
          <p:cNvSpPr txBox="1"/>
          <p:nvPr/>
        </p:nvSpPr>
        <p:spPr>
          <a:xfrm>
            <a:off x="685800" y="638251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2877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Leaves Bali  ·  Hoshi Jungle Review AI</a:t>
            </a:r>
            <a:endParaRPr lang="en-US" sz="900" dirty="0"/>
          </a:p>
        </p:txBody>
      </p:sp>
      <p:sp>
        <p:nvSpPr>
          <p:cNvPr id="23" name="Text 21"/>
          <p:cNvSpPr txBox="1"/>
          <p:nvPr/>
        </p:nvSpPr>
        <p:spPr>
          <a:xfrm>
            <a:off x="10561320" y="638251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2877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2F6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75488"/>
            <a:ext cx="10789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622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読む、直す、押す。それだけです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1170432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72877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専門知識は要りません。パソコンでもスマートフォンでも同じように使えます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685800" y="1920240"/>
            <a:ext cx="3413760" cy="2377440"/>
          </a:xfrm>
          <a:prstGeom prst="roundRect">
            <a:avLst>
              <a:gd name="adj" fmla="val 2308"/>
            </a:avLst>
          </a:prstGeom>
          <a:solidFill>
            <a:srgbClr val="FFFFFF"/>
          </a:solidFill>
          <a:ln w="12700">
            <a:solidFill>
              <a:srgbClr val="D8E0D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51560" y="2240280"/>
            <a:ext cx="384048" cy="384048"/>
          </a:xfrm>
          <a:prstGeom prst="roundRect">
            <a:avLst>
              <a:gd name="adj" fmla="val 23810"/>
            </a:avLst>
          </a:prstGeom>
          <a:solidFill>
            <a:srgbClr val="1F5C47"/>
          </a:solidFill>
          <a:ln w="12700">
            <a:solidFill>
              <a:srgbClr val="1F5C47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51560" y="22402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1051560" y="2788920"/>
            <a:ext cx="2682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622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開く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1051560" y="3291840"/>
            <a:ext cx="2682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4458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配られたURLを開き、パスコードを入力します。Googleアカウントは必要ありません。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4373880" y="1920240"/>
            <a:ext cx="3413760" cy="2377440"/>
          </a:xfrm>
          <a:prstGeom prst="roundRect">
            <a:avLst>
              <a:gd name="adj" fmla="val 2308"/>
            </a:avLst>
          </a:prstGeom>
          <a:solidFill>
            <a:srgbClr val="FFFFFF"/>
          </a:solidFill>
          <a:ln w="12700">
            <a:solidFill>
              <a:srgbClr val="D8E0D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739640" y="2240280"/>
            <a:ext cx="384048" cy="384048"/>
          </a:xfrm>
          <a:prstGeom prst="roundRect">
            <a:avLst>
              <a:gd name="adj" fmla="val 23810"/>
            </a:avLst>
          </a:prstGeom>
          <a:solidFill>
            <a:srgbClr val="1F5C47"/>
          </a:solidFill>
          <a:ln w="12700">
            <a:solidFill>
              <a:srgbClr val="1F5C47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739640" y="22402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4739640" y="2788920"/>
            <a:ext cx="2682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622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読んで、必要なら直す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4739640" y="3291840"/>
            <a:ext cx="2682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4458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AIの返信案がすでに入っています。そのままでよければ何もしません。書き換えもその場でできます。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8061960" y="1920240"/>
            <a:ext cx="3413760" cy="2377440"/>
          </a:xfrm>
          <a:prstGeom prst="roundRect">
            <a:avLst>
              <a:gd name="adj" fmla="val 2308"/>
            </a:avLst>
          </a:prstGeom>
          <a:solidFill>
            <a:srgbClr val="FFFFFF"/>
          </a:solidFill>
          <a:ln w="12700">
            <a:solidFill>
              <a:srgbClr val="D8E0D5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427720" y="2240280"/>
            <a:ext cx="384048" cy="384048"/>
          </a:xfrm>
          <a:prstGeom prst="roundRect">
            <a:avLst>
              <a:gd name="adj" fmla="val 23810"/>
            </a:avLst>
          </a:prstGeom>
          <a:solidFill>
            <a:srgbClr val="1F5C47"/>
          </a:solidFill>
          <a:ln w="12700">
            <a:solidFill>
              <a:srgbClr val="1F5C47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427720" y="22402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8427720" y="2788920"/>
            <a:ext cx="2682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622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公開する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8427720" y="3291840"/>
            <a:ext cx="2682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4458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ボタンを押すとGoogleマップに反映されます。返信しないクチコミは片付けられます。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85800" y="4663440"/>
            <a:ext cx="10789920" cy="960120"/>
          </a:xfrm>
          <a:prstGeom prst="roundRect">
            <a:avLst>
              <a:gd name="adj" fmla="val 5714"/>
            </a:avLst>
          </a:prstGeom>
          <a:solidFill>
            <a:srgbClr val="FAEFD9"/>
          </a:solidFill>
          <a:ln w="12700">
            <a:solidFill>
              <a:srgbClr val="D8E0D5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1005840" y="4864608"/>
            <a:ext cx="10149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00" dirty="0">
                <a:solidFill>
                  <a:srgbClr val="8A5A1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スタッフの方はGoogleアカウント不要です。配布するパスコードだけで使えます。退職時はパスコードを作り直すだけで、その方は入れなくなります。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685800" y="638251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2877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Leaves Bali  ·  Hoshi Jungle Review AI</a:t>
            </a:r>
            <a:endParaRPr lang="en-US" sz="900" dirty="0"/>
          </a:p>
        </p:txBody>
      </p:sp>
      <p:sp>
        <p:nvSpPr>
          <p:cNvPr id="22" name="Text 20"/>
          <p:cNvSpPr txBox="1"/>
          <p:nvPr/>
        </p:nvSpPr>
        <p:spPr>
          <a:xfrm>
            <a:off x="10561320" y="638251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2877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2F6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75488"/>
            <a:ext cx="10789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622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「AIが勝手なことを書く」が起きない理由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1170432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72877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返信はGoogleマップに残り続けます。取り返しがつかないからこそ、止まる仕組みを先に入れてあります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685800" y="1965960"/>
            <a:ext cx="5212080" cy="1371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8E0D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78408" y="2240280"/>
            <a:ext cx="329184" cy="329184"/>
          </a:xfrm>
          <a:prstGeom prst="roundRect">
            <a:avLst>
              <a:gd name="adj" fmla="val 25000"/>
            </a:avLst>
          </a:prstGeom>
          <a:solidFill>
            <a:srgbClr val="1F5C47"/>
          </a:solidFill>
          <a:ln w="12700">
            <a:solidFill>
              <a:srgbClr val="1F5C47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78408" y="224028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✓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472184" y="2203704"/>
            <a:ext cx="4114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2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全件が下書きで止まる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1472184" y="2624328"/>
            <a:ext cx="4114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00" dirty="0">
                <a:solidFill>
                  <a:srgbClr val="4458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自動公開は既定で切ってあります。人が押さないかぎり1件も出ません。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263640" y="1965960"/>
            <a:ext cx="5212080" cy="1371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8E0D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556248" y="2240280"/>
            <a:ext cx="329184" cy="329184"/>
          </a:xfrm>
          <a:prstGeom prst="roundRect">
            <a:avLst>
              <a:gd name="adj" fmla="val 25000"/>
            </a:avLst>
          </a:prstGeom>
          <a:solidFill>
            <a:srgbClr val="1F5C47"/>
          </a:solidFill>
          <a:ln w="12700">
            <a:solidFill>
              <a:srgbClr val="1F5C47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556248" y="224028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✓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7050024" y="2203704"/>
            <a:ext cx="4114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2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返金や補償を約束しない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7050024" y="2624328"/>
            <a:ext cx="4114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00" dirty="0">
                <a:solidFill>
                  <a:srgbClr val="4458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金銭の判断はホテル様のものです。AIには書かせない制約を入れています。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85800" y="3657600"/>
            <a:ext cx="5212080" cy="1371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8E0D5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78408" y="3931920"/>
            <a:ext cx="329184" cy="329184"/>
          </a:xfrm>
          <a:prstGeom prst="roundRect">
            <a:avLst>
              <a:gd name="adj" fmla="val 25000"/>
            </a:avLst>
          </a:prstGeom>
          <a:solidFill>
            <a:srgbClr val="1F5C47"/>
          </a:solidFill>
          <a:ln w="12700">
            <a:solidFill>
              <a:srgbClr val="1F5C47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78408" y="39319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✓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1472184" y="3895344"/>
            <a:ext cx="4114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2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危ないクチコミは隔離する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1472184" y="4315968"/>
            <a:ext cx="4114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00" dirty="0">
                <a:solidFill>
                  <a:srgbClr val="4458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低評価、衛生・盗難・法的措置の主張、返金要求は「要確認」に分けます。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263640" y="3657600"/>
            <a:ext cx="5212080" cy="1371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8E0D5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556248" y="3931920"/>
            <a:ext cx="329184" cy="329184"/>
          </a:xfrm>
          <a:prstGeom prst="roundRect">
            <a:avLst>
              <a:gd name="adj" fmla="val 25000"/>
            </a:avLst>
          </a:prstGeom>
          <a:solidFill>
            <a:srgbClr val="1F5C47"/>
          </a:solidFill>
          <a:ln w="12700">
            <a:solidFill>
              <a:srgbClr val="1F5C47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556248" y="39319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✓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7050024" y="3895344"/>
            <a:ext cx="4114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2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事実を作らない</a:t>
            </a:r>
            <a:endParaRPr lang="en-US" sz="1500" dirty="0"/>
          </a:p>
        </p:txBody>
      </p:sp>
      <p:sp>
        <p:nvSpPr>
          <p:cNvPr id="23" name="Text 21"/>
          <p:cNvSpPr txBox="1"/>
          <p:nvPr/>
        </p:nvSpPr>
        <p:spPr>
          <a:xfrm>
            <a:off x="7050024" y="4315968"/>
            <a:ext cx="4114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00" dirty="0">
                <a:solidFill>
                  <a:srgbClr val="4458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いただいた情報にない設備・サービス・スタッフ名には触れません。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685800" y="5440680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2877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インドネシア語は現地の言い回しをAIに任せきれないため、自動公開の対象から外しています。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685800" y="638251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2877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Leaves Bali  ·  Hoshi Jungle Review AI</a:t>
            </a:r>
            <a:endParaRPr lang="en-US" sz="900" dirty="0"/>
          </a:p>
        </p:txBody>
      </p:sp>
      <p:sp>
        <p:nvSpPr>
          <p:cNvPr id="26" name="Text 24"/>
          <p:cNvSpPr txBox="1"/>
          <p:nvPr/>
        </p:nvSpPr>
        <p:spPr>
          <a:xfrm>
            <a:off x="10561320" y="638251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2877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2F6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75488"/>
            <a:ext cx="10789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622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管理費はいただきません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1170432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72877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月額の管理費・保守費はありません。サーバー代もすべて無料枠に収まるよう設計しました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685800" y="1920240"/>
            <a:ext cx="3931920" cy="2834640"/>
          </a:xfrm>
          <a:prstGeom prst="roundRect">
            <a:avLst>
              <a:gd name="adj" fmla="val 1935"/>
            </a:avLst>
          </a:prstGeom>
          <a:solidFill>
            <a:srgbClr val="FFFFFF"/>
          </a:solidFill>
          <a:ln w="12700">
            <a:solidFill>
              <a:srgbClr val="D8E0D5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85800" y="2560320"/>
            <a:ext cx="39319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0" b="1" dirty="0">
                <a:solidFill>
                  <a:srgbClr val="1F5C4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</a:t>
            </a:r>
            <a:pPr algn="ctr" indent="0" marL="0">
              <a:buNone/>
            </a:pPr>
            <a:r>
              <a:rPr lang="en-US" sz="2200" b="1" dirty="0">
                <a:solidFill>
                  <a:srgbClr val="1622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円 / 月</a:t>
            </a:r>
            <a:endParaRPr lang="en-US" sz="80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4224528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72877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毎月かかる費用はありません</a:t>
            </a:r>
            <a:endParaRPr lang="en-US" sz="115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983480" y="1920240"/>
          <a:ext cx="649224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3017520"/>
                <a:gridCol w="1188720"/>
              </a:tblGrid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72877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内訳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E0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0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0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0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72877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役割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E0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0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0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0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72877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月額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E0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0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0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0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6221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サーバー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E0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0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0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0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44584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画面の表示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E0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0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0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0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1F5C47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0円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E0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0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0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0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6221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データベース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E0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0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0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0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44584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クチコミと返信の保存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E0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0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0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0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1F5C47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0円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E0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0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0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0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6221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定期取得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E0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0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0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0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44584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毎時間の自動チェック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E0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0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0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0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1F5C47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0円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E0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0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0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0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6221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Google連携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E0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0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0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0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44584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クチコミの取得・返信の投稿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E0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0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0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0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1F5C47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0円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E0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0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0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0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6221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管理費・保守費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E0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0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0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0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44584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毎月の運用サポート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E0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0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0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0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1F5C47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0円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E0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0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0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0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6221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AI（3案の作成）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E0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0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0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0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44584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月43件まで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E0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0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0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0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1F5C47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0円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E0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0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0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0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 txBox="1"/>
          <p:nvPr/>
        </p:nvSpPr>
        <p:spPr>
          <a:xfrm>
            <a:off x="4983480" y="4892040"/>
            <a:ext cx="6492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050" dirty="0">
                <a:solidFill>
                  <a:srgbClr val="72877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AIの利用分は無料枠の範囲で自動的に停止します。上限に達してもクチコミの取得は続き、手動での返信は可能です。上限は毎月1日にリセットされます。</a:t>
            </a:r>
            <a:endParaRPr lang="en-US" sz="1050" dirty="0"/>
          </a:p>
        </p:txBody>
      </p:sp>
      <p:sp>
        <p:nvSpPr>
          <p:cNvPr id="9" name="Text 6"/>
          <p:cNvSpPr txBox="1"/>
          <p:nvPr/>
        </p:nvSpPr>
        <p:spPr>
          <a:xfrm>
            <a:off x="685800" y="638251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2877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Leaves Bali  ·  Hoshi Jungle Review AI</a:t>
            </a:r>
            <a:endParaRPr lang="en-US" sz="900" dirty="0"/>
          </a:p>
        </p:txBody>
      </p:sp>
      <p:sp>
        <p:nvSpPr>
          <p:cNvPr id="10" name="Text 7"/>
          <p:cNvSpPr txBox="1"/>
          <p:nvPr/>
        </p:nvSpPr>
        <p:spPr>
          <a:xfrm>
            <a:off x="10561320" y="638251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2877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2F6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75488"/>
            <a:ext cx="10789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622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ご承認をいただいてから、約1か月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1170432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72877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システムはすでに完成しています。待ち時間のほとんどはGoogle社の審査です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685800" y="1975104"/>
            <a:ext cx="1691640" cy="384048"/>
          </a:xfrm>
          <a:prstGeom prst="roundRect">
            <a:avLst>
              <a:gd name="adj" fmla="val 23810"/>
            </a:avLst>
          </a:prstGeom>
          <a:solidFill>
            <a:srgbClr val="1F5C47"/>
          </a:solidFill>
          <a:ln w="12700">
            <a:solidFill>
              <a:srgbClr val="1F5C47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85800" y="1975104"/>
            <a:ext cx="1691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完了済み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2651760" y="1920240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2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システムの開発・検証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5897880" y="1938528"/>
            <a:ext cx="5577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00" dirty="0">
                <a:solidFill>
                  <a:srgbClr val="4458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画面、AIの返信生成、データベース、セキュリティまで構築と動作確認を終えています。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685800" y="2734056"/>
            <a:ext cx="10789920" cy="0"/>
          </a:xfrm>
          <a:prstGeom prst="line">
            <a:avLst/>
          </a:prstGeom>
          <a:noFill/>
          <a:ln w="12700">
            <a:solidFill>
              <a:srgbClr val="D8E0D5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85800" y="2935224"/>
            <a:ext cx="1691640" cy="384048"/>
          </a:xfrm>
          <a:prstGeom prst="roundRect">
            <a:avLst>
              <a:gd name="adj" fmla="val 23810"/>
            </a:avLst>
          </a:prstGeom>
          <a:solidFill>
            <a:srgbClr val="1F5C47"/>
          </a:solidFill>
          <a:ln w="12700">
            <a:solidFill>
              <a:srgbClr val="1F5C4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85800" y="2935224"/>
            <a:ext cx="1691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1日目</a:t>
            </a:r>
            <a:endParaRPr lang="en-US" sz="1050" dirty="0"/>
          </a:p>
        </p:txBody>
      </p:sp>
      <p:sp>
        <p:nvSpPr>
          <p:cNvPr id="11" name="Text 9"/>
          <p:cNvSpPr txBox="1"/>
          <p:nvPr/>
        </p:nvSpPr>
        <p:spPr>
          <a:xfrm>
            <a:off x="2651760" y="2880360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2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Google社へ利用申請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5897880" y="2898648"/>
            <a:ext cx="5577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00" dirty="0">
                <a:solidFill>
                  <a:srgbClr val="4458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クチコミの取得・返信にはGoogle社の承認が必要です。申請はこちらで行います。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85800" y="3694176"/>
            <a:ext cx="10789920" cy="0"/>
          </a:xfrm>
          <a:prstGeom prst="line">
            <a:avLst/>
          </a:prstGeom>
          <a:noFill/>
          <a:ln w="12700">
            <a:solidFill>
              <a:srgbClr val="D8E0D5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5800" y="3895344"/>
            <a:ext cx="1691640" cy="384048"/>
          </a:xfrm>
          <a:prstGeom prst="roundRect">
            <a:avLst>
              <a:gd name="adj" fmla="val 23810"/>
            </a:avLst>
          </a:prstGeom>
          <a:solidFill>
            <a:srgbClr val="E7ECE6"/>
          </a:solidFill>
          <a:ln w="12700">
            <a:solidFill>
              <a:srgbClr val="D8E0D5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85800" y="3895344"/>
            <a:ext cx="1691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4458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数日〜数週間</a:t>
            </a:r>
            <a:endParaRPr 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2651760" y="3840480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2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審査待ち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5897880" y="3858768"/>
            <a:ext cx="5577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00" dirty="0">
                <a:solidFill>
                  <a:srgbClr val="4458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Google社の審査期間です。この間、ホテル様にしていただくことはありません。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85800" y="4654296"/>
            <a:ext cx="10789920" cy="0"/>
          </a:xfrm>
          <a:prstGeom prst="line">
            <a:avLst/>
          </a:prstGeom>
          <a:noFill/>
          <a:ln w="12700">
            <a:solidFill>
              <a:srgbClr val="D8E0D5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85800" y="4855464"/>
            <a:ext cx="1691640" cy="384048"/>
          </a:xfrm>
          <a:prstGeom prst="roundRect">
            <a:avLst>
              <a:gd name="adj" fmla="val 23810"/>
            </a:avLst>
          </a:prstGeom>
          <a:solidFill>
            <a:srgbClr val="9A7A32"/>
          </a:solidFill>
          <a:ln w="12700">
            <a:solidFill>
              <a:srgbClr val="9A7A3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85800" y="4855464"/>
            <a:ext cx="1691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承認後 30分</a:t>
            </a:r>
            <a:endParaRPr lang="en-US" sz="1050" dirty="0"/>
          </a:p>
        </p:txBody>
      </p:sp>
      <p:sp>
        <p:nvSpPr>
          <p:cNvPr id="21" name="Text 19"/>
          <p:cNvSpPr txBox="1"/>
          <p:nvPr/>
        </p:nvSpPr>
        <p:spPr>
          <a:xfrm>
            <a:off x="2651760" y="4800600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2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接続とお引き渡し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5897880" y="4818888"/>
            <a:ext cx="5577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00" dirty="0">
                <a:solidFill>
                  <a:srgbClr val="4458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Hoshi Jungle様のアカウントで接続し、スタッフ用パスコードをお渡しします。当日から使えます。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685800" y="638251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2877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Leaves Bali  ·  Hoshi Jungle Review AI</a:t>
            </a:r>
            <a:endParaRPr lang="en-US" sz="900" dirty="0"/>
          </a:p>
        </p:txBody>
      </p:sp>
      <p:sp>
        <p:nvSpPr>
          <p:cNvPr id="24" name="Text 22"/>
          <p:cNvSpPr txBox="1"/>
          <p:nvPr/>
        </p:nvSpPr>
        <p:spPr>
          <a:xfrm>
            <a:off x="10561320" y="638251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2877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11C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777240"/>
            <a:ext cx="10515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ご承認いただけましたら、3点だけお願いします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85800" y="1911096"/>
            <a:ext cx="402336" cy="402336"/>
          </a:xfrm>
          <a:prstGeom prst="roundRect">
            <a:avLst>
              <a:gd name="adj" fmla="val 25000"/>
            </a:avLst>
          </a:prstGeom>
          <a:solidFill>
            <a:srgbClr val="6FC7A1"/>
          </a:solidFill>
          <a:ln w="12700">
            <a:solidFill>
              <a:srgbClr val="6FC7A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85800" y="191109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11C1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1344168" y="1874520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Googleアカウントの確認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4617720" y="1892808"/>
            <a:ext cx="6858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AFC2B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ビジネスプロフィールを管理しているアカウントのメールアドレス。システムはHoshi Jungle様のアカウントで動かします。担当者が変わっても止まらない形にするためです。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685800" y="3118104"/>
            <a:ext cx="402336" cy="402336"/>
          </a:xfrm>
          <a:prstGeom prst="roundRect">
            <a:avLst>
              <a:gd name="adj" fmla="val 25000"/>
            </a:avLst>
          </a:prstGeom>
          <a:solidFill>
            <a:srgbClr val="6FC7A1"/>
          </a:solidFill>
          <a:ln w="12700">
            <a:solidFill>
              <a:srgbClr val="6FC7A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85800" y="311810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11C1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344168" y="3081528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設定作業の代行可否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4617720" y="3099816"/>
            <a:ext cx="6858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AFC2B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ご希望の場合は leavesbali@gmail.com を管理者として追加していただきます。パスワードをお伺いすることはありません。いつでも解除できます。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685800" y="4325112"/>
            <a:ext cx="402336" cy="402336"/>
          </a:xfrm>
          <a:prstGeom prst="roundRect">
            <a:avLst>
              <a:gd name="adj" fmla="val 25000"/>
            </a:avLst>
          </a:prstGeom>
          <a:solidFill>
            <a:srgbClr val="6FC7A1"/>
          </a:solidFill>
          <a:ln w="12700">
            <a:solidFill>
              <a:srgbClr val="6FC7A1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85800" y="432511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11C1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1344168" y="4288536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返信に使う情報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4617720" y="4306824"/>
            <a:ext cx="6858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AFC2B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署名の名前、低評価時のご連絡先、お客様に伝えたい魅力を2〜3つ。これがAIの書ける範囲になります。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685800" y="5623560"/>
            <a:ext cx="10789920" cy="0"/>
          </a:xfrm>
          <a:prstGeom prst="line">
            <a:avLst/>
          </a:prstGeom>
          <a:noFill/>
          <a:ln w="12700">
            <a:solidFill>
              <a:srgbClr val="2E4638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85800" y="580644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FC7A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Leaves Bali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6537960" y="580644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72877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Hoshi Jungle Review AI — ご提案資料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Leaves Bali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Hoshi Jungle Review AI</dc:title>
  <dc:subject>PptxGenJS Presentation</dc:subject>
  <dc:creator>Leaves Bali</dc:creator>
  <cp:lastModifiedBy>Leaves Bali</cp:lastModifiedBy>
  <cp:revision>1</cp:revision>
  <dcterms:created xsi:type="dcterms:W3CDTF">2026-09-17T02:58:13Z</dcterms:created>
  <dcterms:modified xsi:type="dcterms:W3CDTF">2026-09-17T02:58:13Z</dcterms:modified>
</cp:coreProperties>
</file>